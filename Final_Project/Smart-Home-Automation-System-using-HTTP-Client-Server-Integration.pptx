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Lora" pitchFamily="2" charset="0"/>
      <p:regular r:id="rId19"/>
    </p:embeddedFont>
    <p:embeddedFont>
      <p:font typeface="Source Sans 3" panose="020B0604020202020204" charset="0"/>
      <p:regular r:id="rId20"/>
    </p:embeddedFont>
    <p:embeddedFont>
      <p:font typeface="Source Sans 3 Bold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A9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6033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157982"/>
            <a:ext cx="10795524" cy="1026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Smart Home Automation System using HTTP Client–Server Integration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93293" y="2533551"/>
            <a:ext cx="1140510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IIT Jammu IoT &amp; Drones Online Internship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98086" y="3052663"/>
            <a:ext cx="10795524" cy="19050"/>
          </a:xfrm>
          <a:prstGeom prst="roundRect">
            <a:avLst>
              <a:gd name="adj" fmla="val 49999"/>
            </a:avLst>
          </a:prstGeom>
          <a:solidFill>
            <a:srgbClr val="D6E5EF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72379" y="3311624"/>
            <a:ext cx="5436258" cy="1926927"/>
          </a:xfrm>
          <a:prstGeom prst="roundRect">
            <a:avLst>
              <a:gd name="adj" fmla="val 1359"/>
            </a:avLst>
          </a:prstGeom>
          <a:solidFill>
            <a:srgbClr val="F98AC7"/>
          </a:solidFill>
          <a:ln/>
        </p:spPr>
      </p:sp>
      <p:sp>
        <p:nvSpPr>
          <p:cNvPr id="6" name="Text 4"/>
          <p:cNvSpPr/>
          <p:nvPr/>
        </p:nvSpPr>
        <p:spPr>
          <a:xfrm>
            <a:off x="746900" y="3486150"/>
            <a:ext cx="5087215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Project Team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6900" y="3917355"/>
            <a:ext cx="5087215" cy="619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Anant Priyadarshi</a:t>
            </a:r>
            <a:endParaRPr lang="en-US" sz="1350" dirty="0"/>
          </a:p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Saharsh Mishra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15115" y="3486150"/>
            <a:ext cx="518484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Guided By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15115" y="3917355"/>
            <a:ext cx="579442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Majid Sir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15115" y="4371082"/>
            <a:ext cx="518484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Domain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15115" y="4802287"/>
            <a:ext cx="579442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Internet of Things · Embedded Systems · Home Automation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98086" y="5434905"/>
            <a:ext cx="1787579" cy="265113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F98A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2759" y="5487194"/>
            <a:ext cx="2187818" cy="160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ESP32 MICROCONTROLLER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72876" y="5434905"/>
            <a:ext cx="1487550" cy="265113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F98A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77549" y="5487194"/>
            <a:ext cx="1887788" cy="160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 CLIENT–SERVER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47637" y="5434905"/>
            <a:ext cx="1627841" cy="265113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F98A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2310" y="5487194"/>
            <a:ext cx="2028080" cy="160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MONITORING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62689" y="5434905"/>
            <a:ext cx="1461555" cy="265113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F98A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67362" y="5487194"/>
            <a:ext cx="1861793" cy="160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SAFETY AUTOMATION</a:t>
            </a:r>
            <a:endParaRPr lang="en-US" sz="105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0E9977C-E277-6FEE-437E-84D445EF13EC}"/>
              </a:ext>
            </a:extLst>
          </p:cNvPr>
          <p:cNvGrpSpPr/>
          <p:nvPr/>
        </p:nvGrpSpPr>
        <p:grpSpPr>
          <a:xfrm>
            <a:off x="0" y="6433457"/>
            <a:ext cx="12285040" cy="424543"/>
            <a:chOff x="0" y="6433457"/>
            <a:chExt cx="12285040" cy="42454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A6BBD7B-4CBE-FB23-C2E6-0E865C150ED1}"/>
                </a:ext>
              </a:extLst>
            </p:cNvPr>
            <p:cNvSpPr/>
            <p:nvPr/>
          </p:nvSpPr>
          <p:spPr>
            <a:xfrm>
              <a:off x="0" y="6433457"/>
              <a:ext cx="12192000" cy="424543"/>
            </a:xfrm>
            <a:prstGeom prst="rect">
              <a:avLst/>
            </a:prstGeom>
            <a:solidFill>
              <a:srgbClr val="97A9D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DE00449-9D7F-68E2-3FF5-13FE072E3826}"/>
                </a:ext>
              </a:extLst>
            </p:cNvPr>
            <p:cNvSpPr txBox="1"/>
            <p:nvPr/>
          </p:nvSpPr>
          <p:spPr>
            <a:xfrm>
              <a:off x="10535262" y="6522148"/>
              <a:ext cx="174977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FF0000"/>
                  </a:solidFill>
                </a:rPr>
                <a:t>Made by: Saharsh &amp; Anant</a:t>
              </a:r>
              <a:endParaRPr lang="en-IN" sz="10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05433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About IIT Jammu IoT &amp; Drones Internship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576784"/>
            <a:ext cx="5184844" cy="13767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7855" y="1770360"/>
            <a:ext cx="472150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Hands-On Training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67855" y="2201565"/>
            <a:ext cx="4721504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Practical exposure to Internet of Things and embedded systems design, bridging theory with real hardware implementation.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3128070"/>
            <a:ext cx="5184844" cy="1376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7855" y="3321645"/>
            <a:ext cx="472150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Real-World Applications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967855" y="3752850"/>
            <a:ext cx="4721504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 on industry-relevant IoT use cases including wireless communication, sensor integration, and automation systems.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4679355"/>
            <a:ext cx="5184844" cy="13767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855" y="4872930"/>
            <a:ext cx="472150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Industry-Relevant Skills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967855" y="5304135"/>
            <a:ext cx="4721504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Participants develop competencies in Wi-Fi networking, REST APIs, embedded C/C++, and hardware prototyping.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5115" y="1576784"/>
            <a:ext cx="5184844" cy="137675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584884" y="1770360"/>
            <a:ext cx="472150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Expert Mentorship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6584884" y="2201565"/>
            <a:ext cx="4721504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Guided by experienced IoT professionals with domain expertise in embedded systems and drone technology.</a:t>
            </a:r>
            <a:endParaRPr lang="en-US" sz="13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5115" y="3128070"/>
            <a:ext cx="5184844" cy="165596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584884" y="3321645"/>
            <a:ext cx="472150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Project-Based Learning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6584884" y="3752850"/>
            <a:ext cx="4721504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End-to-end project development from problem identification through hardware assembly, firmware coding, and live demonstration.</a:t>
            </a:r>
            <a:endParaRPr lang="en-US" sz="135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8663F3C-7E39-ACBB-F0A8-FDC4C3AE50C2}"/>
              </a:ext>
            </a:extLst>
          </p:cNvPr>
          <p:cNvGrpSpPr/>
          <p:nvPr/>
        </p:nvGrpSpPr>
        <p:grpSpPr>
          <a:xfrm>
            <a:off x="0" y="6433457"/>
            <a:ext cx="12285040" cy="424543"/>
            <a:chOff x="0" y="6433457"/>
            <a:chExt cx="12285040" cy="42454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5590B7C-C913-BE82-27AC-362B6421E96D}"/>
                </a:ext>
              </a:extLst>
            </p:cNvPr>
            <p:cNvSpPr/>
            <p:nvPr/>
          </p:nvSpPr>
          <p:spPr>
            <a:xfrm>
              <a:off x="0" y="6433457"/>
              <a:ext cx="12192000" cy="424543"/>
            </a:xfrm>
            <a:prstGeom prst="rect">
              <a:avLst/>
            </a:prstGeom>
            <a:solidFill>
              <a:srgbClr val="97A9D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C3A9041-86EF-DA3C-24D3-16969357B991}"/>
                </a:ext>
              </a:extLst>
            </p:cNvPr>
            <p:cNvSpPr txBox="1"/>
            <p:nvPr/>
          </p:nvSpPr>
          <p:spPr>
            <a:xfrm>
              <a:off x="10535262" y="6522148"/>
              <a:ext cx="174977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FF0000"/>
                  </a:solidFill>
                </a:rPr>
                <a:t>Made by: Saharsh &amp; Anant</a:t>
              </a:r>
              <a:endParaRPr lang="en-IN" sz="10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85143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1847453"/>
            <a:ext cx="10795524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Conventional homes rely on manual intervention for appliance control and lack integrated safety monitoring — creating inefficiency, risk, and fragmented device management.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98086" y="2602210"/>
            <a:ext cx="3482094" cy="1827212"/>
          </a:xfrm>
          <a:prstGeom prst="roundRect">
            <a:avLst>
              <a:gd name="adj" fmla="val 1433"/>
            </a:avLst>
          </a:prstGeom>
          <a:solidFill>
            <a:srgbClr val="444752"/>
          </a:solidFill>
          <a:ln/>
        </p:spPr>
      </p:sp>
      <p:sp>
        <p:nvSpPr>
          <p:cNvPr id="5" name="Text 3"/>
          <p:cNvSpPr/>
          <p:nvPr/>
        </p:nvSpPr>
        <p:spPr>
          <a:xfrm>
            <a:off x="872607" y="2776736"/>
            <a:ext cx="313305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Manual Control Inefficiency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72607" y="3138091"/>
            <a:ext cx="3133051" cy="1116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Switching appliances manually is time-consuming and impractical for modern households requiring responsive automation.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54701" y="2602210"/>
            <a:ext cx="3482193" cy="1827212"/>
          </a:xfrm>
          <a:prstGeom prst="roundRect">
            <a:avLst>
              <a:gd name="adj" fmla="val 1433"/>
            </a:avLst>
          </a:prstGeom>
          <a:solidFill>
            <a:srgbClr val="444752"/>
          </a:solidFill>
          <a:ln/>
        </p:spPr>
      </p:sp>
      <p:sp>
        <p:nvSpPr>
          <p:cNvPr id="8" name="Text 6"/>
          <p:cNvSpPr/>
          <p:nvPr/>
        </p:nvSpPr>
        <p:spPr>
          <a:xfrm>
            <a:off x="4529223" y="2776736"/>
            <a:ext cx="313315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Real-Time Monitoring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29223" y="3138091"/>
            <a:ext cx="3133151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Absence of continuous environmental sensing means temperature, humidity, and air quality go untracked in real time.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11416" y="2602210"/>
            <a:ext cx="3482193" cy="1827212"/>
          </a:xfrm>
          <a:prstGeom prst="roundRect">
            <a:avLst>
              <a:gd name="adj" fmla="val 1433"/>
            </a:avLst>
          </a:prstGeom>
          <a:solidFill>
            <a:srgbClr val="444752"/>
          </a:solidFill>
          <a:ln/>
        </p:spPr>
      </p:sp>
      <p:sp>
        <p:nvSpPr>
          <p:cNvPr id="11" name="Text 9"/>
          <p:cNvSpPr/>
          <p:nvPr/>
        </p:nvSpPr>
        <p:spPr>
          <a:xfrm>
            <a:off x="8185937" y="2776736"/>
            <a:ext cx="313315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Safety Hazard Gaps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85937" y="3138091"/>
            <a:ext cx="3133151" cy="1116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automated response to critical events such as gas leaks or fire detection leaves occupants vulnerable to preventable accidents.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98086" y="4603948"/>
            <a:ext cx="5310452" cy="1268809"/>
          </a:xfrm>
          <a:prstGeom prst="roundRect">
            <a:avLst>
              <a:gd name="adj" fmla="val 2063"/>
            </a:avLst>
          </a:prstGeom>
          <a:solidFill>
            <a:srgbClr val="444752"/>
          </a:solidFill>
          <a:ln/>
        </p:spPr>
      </p:sp>
      <p:sp>
        <p:nvSpPr>
          <p:cNvPr id="14" name="Text 12"/>
          <p:cNvSpPr/>
          <p:nvPr/>
        </p:nvSpPr>
        <p:spPr>
          <a:xfrm>
            <a:off x="872607" y="4778474"/>
            <a:ext cx="4961409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Centralized Dashboard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2607" y="5139829"/>
            <a:ext cx="4961409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Devices operate in isolation with no unified interface for remote monitoring, status visualization, or control.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83059" y="4603948"/>
            <a:ext cx="5310551" cy="1268809"/>
          </a:xfrm>
          <a:prstGeom prst="roundRect">
            <a:avLst>
              <a:gd name="adj" fmla="val 2063"/>
            </a:avLst>
          </a:prstGeom>
          <a:solidFill>
            <a:srgbClr val="444752"/>
          </a:solidFill>
          <a:ln/>
        </p:spPr>
      </p:sp>
      <p:sp>
        <p:nvSpPr>
          <p:cNvPr id="17" name="Text 15"/>
          <p:cNvSpPr/>
          <p:nvPr/>
        </p:nvSpPr>
        <p:spPr>
          <a:xfrm>
            <a:off x="6357580" y="4778474"/>
            <a:ext cx="4961508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Protocol Fragmentation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7580" y="5139829"/>
            <a:ext cx="4961508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Multiple heterogeneous sensors lack a common communication protocol, making integration complex and unreliable.</a:t>
            </a:r>
            <a:endParaRPr lang="en-US" sz="135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822008B-BF5B-1D74-5159-BF8D832CEC21}"/>
              </a:ext>
            </a:extLst>
          </p:cNvPr>
          <p:cNvGrpSpPr/>
          <p:nvPr/>
        </p:nvGrpSpPr>
        <p:grpSpPr>
          <a:xfrm>
            <a:off x="0" y="6433457"/>
            <a:ext cx="12285040" cy="424543"/>
            <a:chOff x="0" y="6433457"/>
            <a:chExt cx="12285040" cy="42454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08589EC-B87E-C2DB-E4DC-C2CF37A99EE1}"/>
                </a:ext>
              </a:extLst>
            </p:cNvPr>
            <p:cNvSpPr/>
            <p:nvPr/>
          </p:nvSpPr>
          <p:spPr>
            <a:xfrm>
              <a:off x="0" y="6433457"/>
              <a:ext cx="12192000" cy="424543"/>
            </a:xfrm>
            <a:prstGeom prst="rect">
              <a:avLst/>
            </a:prstGeom>
            <a:solidFill>
              <a:srgbClr val="97A9D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EE679D0-F879-D73B-96CC-4A0870CC836A}"/>
                </a:ext>
              </a:extLst>
            </p:cNvPr>
            <p:cNvSpPr txBox="1"/>
            <p:nvPr/>
          </p:nvSpPr>
          <p:spPr>
            <a:xfrm>
              <a:off x="10535262" y="6522148"/>
              <a:ext cx="174977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FF0000"/>
                  </a:solidFill>
                </a:rPr>
                <a:t>Made by: Saharsh &amp; Anant</a:t>
              </a:r>
              <a:endParaRPr lang="en-IN" sz="10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07616"/>
            <a:ext cx="10795524" cy="461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Objectives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84979" y="1281609"/>
            <a:ext cx="5432388" cy="4968677"/>
          </a:xfrm>
          <a:prstGeom prst="roundRect">
            <a:avLst>
              <a:gd name="adj" fmla="val 474"/>
            </a:avLst>
          </a:prstGeom>
          <a:solidFill>
            <a:srgbClr val="F98AC7"/>
          </a:solidFill>
          <a:ln/>
        </p:spPr>
      </p:sp>
      <p:sp>
        <p:nvSpPr>
          <p:cNvPr id="4" name="Text 2"/>
          <p:cNvSpPr/>
          <p:nvPr/>
        </p:nvSpPr>
        <p:spPr>
          <a:xfrm>
            <a:off x="742038" y="1422896"/>
            <a:ext cx="511827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Core Engineering Goals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2038" y="1812925"/>
            <a:ext cx="314119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2038" y="2060773"/>
            <a:ext cx="5118270" cy="19050"/>
          </a:xfrm>
          <a:prstGeom prst="rect">
            <a:avLst/>
          </a:prstGeom>
          <a:solidFill>
            <a:srgbClr val="6EB9FC"/>
          </a:solidFill>
          <a:ln/>
        </p:spPr>
      </p:sp>
      <p:sp>
        <p:nvSpPr>
          <p:cNvPr id="7" name="Text 5"/>
          <p:cNvSpPr/>
          <p:nvPr/>
        </p:nvSpPr>
        <p:spPr>
          <a:xfrm>
            <a:off x="742038" y="2177355"/>
            <a:ext cx="511827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ESP32-Based System Design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2038" y="2549624"/>
            <a:ext cx="5118270" cy="477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Design and implement a complete smart home system using dual ESP32 microcontrollers as client and server nodes.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2038" y="3286125"/>
            <a:ext cx="314119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2038" y="3518297"/>
            <a:ext cx="5118270" cy="19050"/>
          </a:xfrm>
          <a:prstGeom prst="rect">
            <a:avLst/>
          </a:prstGeom>
          <a:solidFill>
            <a:srgbClr val="6EB9FC"/>
          </a:solidFill>
          <a:ln/>
        </p:spPr>
      </p:sp>
      <p:sp>
        <p:nvSpPr>
          <p:cNvPr id="11" name="Text 9"/>
          <p:cNvSpPr/>
          <p:nvPr/>
        </p:nvSpPr>
        <p:spPr>
          <a:xfrm>
            <a:off x="742038" y="3650555"/>
            <a:ext cx="511827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Real-Time Sensor Monitoring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42038" y="4022824"/>
            <a:ext cx="5118270" cy="477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Enable continuous acquisition and visualization of environmental sensor data including temperature, humidity, motion, gas, and flame.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2038" y="4759325"/>
            <a:ext cx="314119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2038" y="4975820"/>
            <a:ext cx="5118270" cy="19050"/>
          </a:xfrm>
          <a:prstGeom prst="rect">
            <a:avLst/>
          </a:prstGeom>
          <a:solidFill>
            <a:srgbClr val="6EB9FC"/>
          </a:solidFill>
          <a:ln/>
        </p:spPr>
      </p:sp>
      <p:sp>
        <p:nvSpPr>
          <p:cNvPr id="15" name="Text 13"/>
          <p:cNvSpPr/>
          <p:nvPr/>
        </p:nvSpPr>
        <p:spPr>
          <a:xfrm>
            <a:off x="742038" y="5123755"/>
            <a:ext cx="511827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HTTP Client–Server Communication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42038" y="5496024"/>
            <a:ext cx="5118270" cy="477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Develop a robust HTTP-based communication layer for bidirectional device control and data exchange over Wi-Fi.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93784" y="1422896"/>
            <a:ext cx="5206175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Outcome Targets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293784" y="1812925"/>
            <a:ext cx="314119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93784" y="2107803"/>
            <a:ext cx="5206175" cy="19050"/>
          </a:xfrm>
          <a:prstGeom prst="rect">
            <a:avLst/>
          </a:prstGeom>
          <a:solidFill>
            <a:srgbClr val="6EB9FC"/>
          </a:solidFill>
          <a:ln/>
        </p:spPr>
      </p:sp>
      <p:sp>
        <p:nvSpPr>
          <p:cNvPr id="20" name="Text 18"/>
          <p:cNvSpPr/>
          <p:nvPr/>
        </p:nvSpPr>
        <p:spPr>
          <a:xfrm>
            <a:off x="6293784" y="2177355"/>
            <a:ext cx="5206175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Automated Safety Response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293784" y="2549624"/>
            <a:ext cx="5206175" cy="477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 an automated hazard detection and response system that triggers alerts and actuators upon gas or flame events.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93784" y="3286125"/>
            <a:ext cx="314119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93784" y="3549650"/>
            <a:ext cx="5206175" cy="19050"/>
          </a:xfrm>
          <a:prstGeom prst="rect">
            <a:avLst/>
          </a:prstGeom>
          <a:solidFill>
            <a:srgbClr val="6EB9FC"/>
          </a:solidFill>
          <a:ln/>
        </p:spPr>
      </p:sp>
      <p:sp>
        <p:nvSpPr>
          <p:cNvPr id="24" name="Text 22"/>
          <p:cNvSpPr/>
          <p:nvPr/>
        </p:nvSpPr>
        <p:spPr>
          <a:xfrm>
            <a:off x="6293784" y="3650555"/>
            <a:ext cx="5206175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Web-Based Dashboard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293784" y="4022824"/>
            <a:ext cx="5206175" cy="477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 a live web interface displaying real-time sensor values, system status, and remote control capabilities accessible from any browser.</a:t>
            </a:r>
            <a:endParaRPr lang="en-US" sz="12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41FC53B-0207-64EE-3070-372486B4CAA4}"/>
              </a:ext>
            </a:extLst>
          </p:cNvPr>
          <p:cNvGrpSpPr/>
          <p:nvPr/>
        </p:nvGrpSpPr>
        <p:grpSpPr>
          <a:xfrm>
            <a:off x="0" y="6433457"/>
            <a:ext cx="12285040" cy="424543"/>
            <a:chOff x="0" y="6433457"/>
            <a:chExt cx="12285040" cy="424543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9694270-5D58-D168-99AE-F71AD70415EB}"/>
                </a:ext>
              </a:extLst>
            </p:cNvPr>
            <p:cNvSpPr/>
            <p:nvPr/>
          </p:nvSpPr>
          <p:spPr>
            <a:xfrm>
              <a:off x="0" y="6433457"/>
              <a:ext cx="12192000" cy="424543"/>
            </a:xfrm>
            <a:prstGeom prst="rect">
              <a:avLst/>
            </a:prstGeom>
            <a:solidFill>
              <a:srgbClr val="97A9D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300D4E4-2BCB-2A44-4679-29A94B8C4554}"/>
                </a:ext>
              </a:extLst>
            </p:cNvPr>
            <p:cNvSpPr txBox="1"/>
            <p:nvPr/>
          </p:nvSpPr>
          <p:spPr>
            <a:xfrm>
              <a:off x="10535262" y="6522148"/>
              <a:ext cx="174977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FF0000"/>
                  </a:solidFill>
                </a:rPr>
                <a:t>Made by: Saharsh &amp; Anant</a:t>
              </a:r>
              <a:endParaRPr lang="en-IN" sz="10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128911"/>
            <a:ext cx="10795524" cy="461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Hardware Components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98086" y="1944191"/>
            <a:ext cx="5206175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Microcontrollers &amp; Sensors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98086" y="2334220"/>
            <a:ext cx="5206175" cy="3047206"/>
          </a:xfrm>
          <a:prstGeom prst="roundRect">
            <a:avLst>
              <a:gd name="adj" fmla="val 773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8086" y="2764631"/>
            <a:ext cx="5206175" cy="981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98086" y="3191867"/>
            <a:ext cx="5206175" cy="981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98086" y="3857823"/>
            <a:ext cx="5206175" cy="981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8086" y="4285059"/>
            <a:ext cx="5206175" cy="981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98086" y="4951016"/>
            <a:ext cx="5206175" cy="981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61594" y="2431653"/>
            <a:ext cx="2892154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Component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58282" y="2431653"/>
            <a:ext cx="2892154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Specification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1594" y="2858889"/>
            <a:ext cx="2892154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ESP32 Dev Module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58282" y="2858889"/>
            <a:ext cx="2892154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 × 38-Pin, dual-core, Wi-Fi + BT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1594" y="3286125"/>
            <a:ext cx="2892154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DHT11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58282" y="3286125"/>
            <a:ext cx="2282569" cy="477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Temperature (0–50°C) &amp; Humidity (20–90%)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1594" y="3952081"/>
            <a:ext cx="2892154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PIR Sensor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58282" y="3952081"/>
            <a:ext cx="2892154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Motion detection, 5–7 m range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1594" y="4379317"/>
            <a:ext cx="2892154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MQ Gas Sensor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58282" y="4379317"/>
            <a:ext cx="2282569" cy="477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Analog gas concentration measurement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1594" y="5045273"/>
            <a:ext cx="2892154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Flame Sensor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58282" y="5045273"/>
            <a:ext cx="2892154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IR-based fire detection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93784" y="1944191"/>
            <a:ext cx="5206175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Actuators, Display &amp; Support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293784" y="2334220"/>
            <a:ext cx="5206175" cy="3235722"/>
          </a:xfrm>
          <a:prstGeom prst="roundRect">
            <a:avLst>
              <a:gd name="adj" fmla="val 728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93784" y="2764631"/>
            <a:ext cx="5206175" cy="981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293784" y="3191867"/>
            <a:ext cx="5206175" cy="981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293784" y="3619103"/>
            <a:ext cx="5206175" cy="981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293784" y="4285059"/>
            <a:ext cx="5206175" cy="981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293784" y="4712295"/>
            <a:ext cx="5206175" cy="981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293784" y="5139531"/>
            <a:ext cx="5206175" cy="981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457292" y="2431653"/>
            <a:ext cx="2892154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Component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053981" y="2431653"/>
            <a:ext cx="2892154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Role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57292" y="2858889"/>
            <a:ext cx="2892154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Relay Module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053981" y="2858889"/>
            <a:ext cx="2892154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Controls fan and home appliances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57292" y="3286125"/>
            <a:ext cx="2892154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Stepper Motor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053981" y="3286125"/>
            <a:ext cx="2892154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mechanical actuation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57292" y="3713361"/>
            <a:ext cx="2892154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DC Fan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053981" y="3713361"/>
            <a:ext cx="2282569" cy="477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Ventilation response to motion/temp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57292" y="4379317"/>
            <a:ext cx="2892154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Active Buzzer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053981" y="4379317"/>
            <a:ext cx="2892154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Audible safety alerts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57292" y="4806553"/>
            <a:ext cx="2892154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SSD1306 OLED (0.96")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053981" y="4806553"/>
            <a:ext cx="2892154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On-device status display via I2C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57292" y="5233789"/>
            <a:ext cx="2892154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 / Green LED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053981" y="5233789"/>
            <a:ext cx="2892154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Visual alert and status indicators</a:t>
            </a:r>
            <a:endParaRPr lang="en-US" sz="12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B932E90-3510-51B1-0D97-D219446F24B9}"/>
              </a:ext>
            </a:extLst>
          </p:cNvPr>
          <p:cNvGrpSpPr/>
          <p:nvPr/>
        </p:nvGrpSpPr>
        <p:grpSpPr>
          <a:xfrm>
            <a:off x="0" y="6433457"/>
            <a:ext cx="12285040" cy="424543"/>
            <a:chOff x="0" y="6433457"/>
            <a:chExt cx="12285040" cy="424543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9E77A4C-7739-8359-BE55-3B9ADEF91A6A}"/>
                </a:ext>
              </a:extLst>
            </p:cNvPr>
            <p:cNvSpPr/>
            <p:nvPr/>
          </p:nvSpPr>
          <p:spPr>
            <a:xfrm>
              <a:off x="0" y="6433457"/>
              <a:ext cx="12192000" cy="424543"/>
            </a:xfrm>
            <a:prstGeom prst="rect">
              <a:avLst/>
            </a:prstGeom>
            <a:solidFill>
              <a:srgbClr val="97A9D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675C247-ABD9-C59B-A9F6-7B9A1815B60F}"/>
                </a:ext>
              </a:extLst>
            </p:cNvPr>
            <p:cNvSpPr txBox="1"/>
            <p:nvPr/>
          </p:nvSpPr>
          <p:spPr>
            <a:xfrm>
              <a:off x="10535262" y="6522148"/>
              <a:ext cx="174977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FF0000"/>
                  </a:solidFill>
                </a:rPr>
                <a:t>Made by: Saharsh &amp; Anant</a:t>
              </a:r>
              <a:endParaRPr lang="en-IN" sz="10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43670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Software Stack &amp; Technologies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98086" y="1805980"/>
            <a:ext cx="5310452" cy="1966913"/>
          </a:xfrm>
          <a:prstGeom prst="roundRect">
            <a:avLst>
              <a:gd name="adj" fmla="val 1331"/>
            </a:avLst>
          </a:prstGeom>
          <a:solidFill>
            <a:srgbClr val="444752"/>
          </a:solidFill>
          <a:ln/>
        </p:spPr>
      </p:sp>
      <p:sp>
        <p:nvSpPr>
          <p:cNvPr id="4" name="Shape 2"/>
          <p:cNvSpPr/>
          <p:nvPr/>
        </p:nvSpPr>
        <p:spPr>
          <a:xfrm>
            <a:off x="872607" y="1980505"/>
            <a:ext cx="523564" cy="523577"/>
          </a:xfrm>
          <a:prstGeom prst="ellipse">
            <a:avLst/>
          </a:prstGeom>
          <a:solidFill>
            <a:srgbClr val="6EB9F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570" y="2124472"/>
            <a:ext cx="235539" cy="2355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2607" y="2678609"/>
            <a:ext cx="4961409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Firmware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72607" y="3039963"/>
            <a:ext cx="4961409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Arduino IDE with Embedded C/C++ for ESP32 board support. Full peripheral driver integration for sensors and actuators.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83059" y="1805980"/>
            <a:ext cx="5310551" cy="1966913"/>
          </a:xfrm>
          <a:prstGeom prst="roundRect">
            <a:avLst>
              <a:gd name="adj" fmla="val 1331"/>
            </a:avLst>
          </a:prstGeom>
          <a:solidFill>
            <a:srgbClr val="444752"/>
          </a:solidFill>
          <a:ln/>
        </p:spPr>
      </p:sp>
      <p:sp>
        <p:nvSpPr>
          <p:cNvPr id="9" name="Shape 6"/>
          <p:cNvSpPr/>
          <p:nvPr/>
        </p:nvSpPr>
        <p:spPr>
          <a:xfrm>
            <a:off x="6357580" y="1980505"/>
            <a:ext cx="523564" cy="523577"/>
          </a:xfrm>
          <a:prstGeom prst="ellipse">
            <a:avLst/>
          </a:prstGeom>
          <a:solidFill>
            <a:srgbClr val="6EB9F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01543" y="2124472"/>
            <a:ext cx="235539" cy="23554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57580" y="2678609"/>
            <a:ext cx="4961508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Communication Layer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357580" y="3039963"/>
            <a:ext cx="4961508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 Client–Server over Wi-Fi networking. REST API endpoints for sensor data ingestion and actuator command dispatch.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98086" y="3947418"/>
            <a:ext cx="5310452" cy="1966913"/>
          </a:xfrm>
          <a:prstGeom prst="roundRect">
            <a:avLst>
              <a:gd name="adj" fmla="val 1331"/>
            </a:avLst>
          </a:prstGeom>
          <a:solidFill>
            <a:srgbClr val="444752"/>
          </a:solidFill>
          <a:ln/>
        </p:spPr>
      </p:sp>
      <p:sp>
        <p:nvSpPr>
          <p:cNvPr id="14" name="Shape 10"/>
          <p:cNvSpPr/>
          <p:nvPr/>
        </p:nvSpPr>
        <p:spPr>
          <a:xfrm>
            <a:off x="872607" y="4121944"/>
            <a:ext cx="523564" cy="523577"/>
          </a:xfrm>
          <a:prstGeom prst="ellipse">
            <a:avLst/>
          </a:prstGeom>
          <a:solidFill>
            <a:srgbClr val="6EB9F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570" y="4265910"/>
            <a:ext cx="235539" cy="23554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2607" y="4820047"/>
            <a:ext cx="4961409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Web Frontend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72607" y="5181402"/>
            <a:ext cx="4961409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HTML, CSS, and JavaScript dashboard. JavaScript fetch API polls server endpoints and updates UI elements in real time.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6183059" y="3947418"/>
            <a:ext cx="5310551" cy="1966913"/>
          </a:xfrm>
          <a:prstGeom prst="roundRect">
            <a:avLst>
              <a:gd name="adj" fmla="val 1331"/>
            </a:avLst>
          </a:prstGeom>
          <a:solidFill>
            <a:srgbClr val="444752"/>
          </a:solidFill>
          <a:ln/>
        </p:spPr>
      </p:sp>
      <p:sp>
        <p:nvSpPr>
          <p:cNvPr id="19" name="Shape 14"/>
          <p:cNvSpPr/>
          <p:nvPr/>
        </p:nvSpPr>
        <p:spPr>
          <a:xfrm>
            <a:off x="6357580" y="4121944"/>
            <a:ext cx="523564" cy="523577"/>
          </a:xfrm>
          <a:prstGeom prst="ellipse">
            <a:avLst/>
          </a:prstGeom>
          <a:solidFill>
            <a:srgbClr val="6EB9FC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01543" y="4265910"/>
            <a:ext cx="235539" cy="23554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57580" y="4820047"/>
            <a:ext cx="4961508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Protocol Stack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357580" y="5181402"/>
            <a:ext cx="4961508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TCP/IP over Wi-Fi for reliable data exchange. JSON payloads ensure structured, human-readable data transmission between nodes.</a:t>
            </a:r>
            <a:endParaRPr lang="en-US" sz="135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7495D9-F53D-BBDF-6140-E0985CE183E7}"/>
              </a:ext>
            </a:extLst>
          </p:cNvPr>
          <p:cNvGrpSpPr/>
          <p:nvPr/>
        </p:nvGrpSpPr>
        <p:grpSpPr>
          <a:xfrm>
            <a:off x="0" y="6433457"/>
            <a:ext cx="12285040" cy="424543"/>
            <a:chOff x="0" y="6433457"/>
            <a:chExt cx="12285040" cy="42454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1E11A94-2C73-6900-BAE2-3B6A4A9025C0}"/>
                </a:ext>
              </a:extLst>
            </p:cNvPr>
            <p:cNvSpPr/>
            <p:nvPr/>
          </p:nvSpPr>
          <p:spPr>
            <a:xfrm>
              <a:off x="0" y="6433457"/>
              <a:ext cx="12192000" cy="424543"/>
            </a:xfrm>
            <a:prstGeom prst="rect">
              <a:avLst/>
            </a:prstGeom>
            <a:solidFill>
              <a:srgbClr val="97A9D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E3D05AB-174D-E2E3-0CCD-D401A7F2ECFE}"/>
                </a:ext>
              </a:extLst>
            </p:cNvPr>
            <p:cNvSpPr txBox="1"/>
            <p:nvPr/>
          </p:nvSpPr>
          <p:spPr>
            <a:xfrm>
              <a:off x="10535262" y="6522148"/>
              <a:ext cx="174977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FF0000"/>
                  </a:solidFill>
                </a:rPr>
                <a:t>Made by: Saharsh &amp; Anant</a:t>
              </a:r>
              <a:endParaRPr lang="en-IN" sz="10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499566"/>
            <a:ext cx="10795524" cy="333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Overall System Architecture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98086" y="980678"/>
            <a:ext cx="11405108" cy="149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employs a two-node ESP32 architecture where a dedicated server node manages all actuator logic and hosts the HTTP server, while a client node handles sensor acquisition and data forwarding.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7263" y="1213247"/>
            <a:ext cx="7017071" cy="39546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53236" y="1555910"/>
            <a:ext cx="1299660" cy="182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Client ESP32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2753236" y="1794094"/>
            <a:ext cx="1299660" cy="256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6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Collects sensors and sends POST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145440" y="1555910"/>
            <a:ext cx="1292747" cy="182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Server ESP32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145440" y="1794094"/>
            <a:ext cx="1292747" cy="256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Hosts HTTP server, controls relays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801735" y="4317216"/>
            <a:ext cx="1251268" cy="182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Actuators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801735" y="4555399"/>
            <a:ext cx="1251268" cy="256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6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Fan, buzzer, motor, indicator LEDs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103962" y="4317216"/>
            <a:ext cx="1334225" cy="182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Web Dashboard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103962" y="4555399"/>
            <a:ext cx="1334225" cy="256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JS UI shows live sensor data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98086" y="5333802"/>
            <a:ext cx="2592819" cy="941586"/>
          </a:xfrm>
          <a:prstGeom prst="roundRect">
            <a:avLst>
              <a:gd name="adj" fmla="val 1807"/>
            </a:avLst>
          </a:prstGeom>
          <a:solidFill>
            <a:srgbClr val="252833"/>
          </a:solidFill>
          <a:ln w="12700">
            <a:solidFill>
              <a:srgbClr val="5D606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4190" y="5459909"/>
            <a:ext cx="2340611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Server ESP32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24190" y="5700415"/>
            <a:ext cx="2340611" cy="448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Hosts HTTP server · Manages sensor data · Controls relays and actuators based on received inputs and embedded logic.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364622" y="5333802"/>
            <a:ext cx="2592819" cy="941586"/>
          </a:xfrm>
          <a:prstGeom prst="roundRect">
            <a:avLst>
              <a:gd name="adj" fmla="val 1807"/>
            </a:avLst>
          </a:prstGeom>
          <a:solidFill>
            <a:srgbClr val="252833"/>
          </a:solidFill>
          <a:ln w="12700">
            <a:solidFill>
              <a:srgbClr val="5D60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90726" y="5459909"/>
            <a:ext cx="2340611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Client ESP32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490726" y="5700415"/>
            <a:ext cx="2340611" cy="448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Collects readings from all sensors · Packages data as JSON · Sends HTTP POST requests to server at regular intervals.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240604" y="5333802"/>
            <a:ext cx="2592819" cy="941586"/>
          </a:xfrm>
          <a:prstGeom prst="roundRect">
            <a:avLst>
              <a:gd name="adj" fmla="val 1807"/>
            </a:avLst>
          </a:prstGeom>
          <a:solidFill>
            <a:srgbClr val="252833"/>
          </a:solidFill>
          <a:ln w="12700">
            <a:solidFill>
              <a:srgbClr val="5D60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66708" y="5459909"/>
            <a:ext cx="2340611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Web Dashboard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366708" y="5700415"/>
            <a:ext cx="2340611" cy="448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Browser-based interface · Fetches live data from server via HTTP GET · Displays sensor values and system status dynamically.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907140" y="5333802"/>
            <a:ext cx="2592819" cy="941586"/>
          </a:xfrm>
          <a:prstGeom prst="roundRect">
            <a:avLst>
              <a:gd name="adj" fmla="val 1807"/>
            </a:avLst>
          </a:prstGeom>
          <a:solidFill>
            <a:srgbClr val="252833"/>
          </a:solidFill>
          <a:ln w="12700">
            <a:solidFill>
              <a:srgbClr val="5D60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33244" y="5459909"/>
            <a:ext cx="2340611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Actuator Layer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033244" y="5700415"/>
            <a:ext cx="2340611" cy="448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Relay, fan, stepper motor, buzzer, and LEDs · Controlled by server logic in response to sensor thresholds and safety events.</a:t>
            </a:r>
            <a:endParaRPr lang="en-US" sz="85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F8410FB-61CC-5B34-2D2F-3C432FC8EF1E}"/>
              </a:ext>
            </a:extLst>
          </p:cNvPr>
          <p:cNvGrpSpPr/>
          <p:nvPr/>
        </p:nvGrpSpPr>
        <p:grpSpPr>
          <a:xfrm>
            <a:off x="0" y="6433457"/>
            <a:ext cx="12285040" cy="424543"/>
            <a:chOff x="0" y="6433457"/>
            <a:chExt cx="12285040" cy="42454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5B3E0B7-22B3-34C6-EA29-82C967F39C5B}"/>
                </a:ext>
              </a:extLst>
            </p:cNvPr>
            <p:cNvSpPr/>
            <p:nvPr/>
          </p:nvSpPr>
          <p:spPr>
            <a:xfrm>
              <a:off x="0" y="6433457"/>
              <a:ext cx="12192000" cy="424543"/>
            </a:xfrm>
            <a:prstGeom prst="rect">
              <a:avLst/>
            </a:prstGeom>
            <a:solidFill>
              <a:srgbClr val="97A9D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F3D5FB1-E3EC-3E20-1265-90F644048B84}"/>
                </a:ext>
              </a:extLst>
            </p:cNvPr>
            <p:cNvSpPr txBox="1"/>
            <p:nvPr/>
          </p:nvSpPr>
          <p:spPr>
            <a:xfrm>
              <a:off x="10535262" y="6522148"/>
              <a:ext cx="174977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FF0000"/>
                  </a:solidFill>
                </a:rPr>
                <a:t>Made by: Saharsh &amp; Anant</a:t>
              </a:r>
              <a:endParaRPr lang="en-IN" sz="10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11213"/>
            <a:ext cx="10795524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Circuit Diagram &amp; ESP32 Pin Connections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98086" y="1613892"/>
            <a:ext cx="10795524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sensors and actuators are mapped to specific GPIO pins on the ESP32. I2C bus (SDA/SCL) is reserved for the OLED display; analog ADC pins serve the MQ gas sensor.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98086" y="2308225"/>
            <a:ext cx="10795524" cy="3738562"/>
          </a:xfrm>
          <a:prstGeom prst="roundRect">
            <a:avLst>
              <a:gd name="adj" fmla="val 665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8086" y="2777927"/>
            <a:ext cx="10795524" cy="1036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98086" y="3244453"/>
            <a:ext cx="10795524" cy="1036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98086" y="3710980"/>
            <a:ext cx="10795524" cy="1036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8086" y="4177506"/>
            <a:ext cx="10795524" cy="1036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98086" y="4644033"/>
            <a:ext cx="10795524" cy="1036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98086" y="5110559"/>
            <a:ext cx="10795524" cy="1036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98086" y="5577086"/>
            <a:ext cx="10795524" cy="1036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00142" y="2308225"/>
            <a:ext cx="10364" cy="373856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095848" y="2308225"/>
            <a:ext cx="10364" cy="373856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791553" y="2308225"/>
            <a:ext cx="10364" cy="373856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04436" y="2314575"/>
            <a:ext cx="2695706" cy="463352"/>
          </a:xfrm>
          <a:custGeom>
            <a:avLst/>
            <a:gdLst/>
            <a:ahLst/>
            <a:cxnLst/>
            <a:rect l="l" t="t" r="r" b="b"/>
            <a:pathLst>
              <a:path w="2695706" h="463352">
                <a:moveTo>
                  <a:pt x="20727" y="0"/>
                </a:moveTo>
                <a:lnTo>
                  <a:pt x="2695706" y="0"/>
                </a:lnTo>
                <a:lnTo>
                  <a:pt x="2695706" y="463352"/>
                </a:lnTo>
                <a:lnTo>
                  <a:pt x="0" y="463352"/>
                </a:lnTo>
                <a:lnTo>
                  <a:pt x="0" y="20728"/>
                </a:lnTo>
                <a:arcTo wR="20727" hR="20728" stAng="10800000" swAng="5400000"/>
                <a:close/>
              </a:path>
            </a:pathLst>
          </a:custGeom>
          <a:solidFill>
            <a:srgbClr val="F98AC7"/>
          </a:solidFill>
          <a:ln/>
        </p:spPr>
      </p:sp>
      <p:sp>
        <p:nvSpPr>
          <p:cNvPr id="16" name="Text 14"/>
          <p:cNvSpPr/>
          <p:nvPr/>
        </p:nvSpPr>
        <p:spPr>
          <a:xfrm>
            <a:off x="870226" y="2415381"/>
            <a:ext cx="297053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Component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00142" y="2314575"/>
            <a:ext cx="2695706" cy="463352"/>
          </a:xfrm>
          <a:prstGeom prst="rect">
            <a:avLst/>
          </a:prstGeom>
          <a:solidFill>
            <a:srgbClr val="F98AC7"/>
          </a:solidFill>
          <a:ln/>
        </p:spPr>
      </p:sp>
      <p:sp>
        <p:nvSpPr>
          <p:cNvPr id="18" name="Text 16"/>
          <p:cNvSpPr/>
          <p:nvPr/>
        </p:nvSpPr>
        <p:spPr>
          <a:xfrm>
            <a:off x="3569107" y="2415381"/>
            <a:ext cx="296736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Interface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95848" y="2314575"/>
            <a:ext cx="2695706" cy="463352"/>
          </a:xfrm>
          <a:prstGeom prst="rect">
            <a:avLst/>
          </a:prstGeom>
          <a:solidFill>
            <a:srgbClr val="F98AC7"/>
          </a:solidFill>
          <a:ln/>
        </p:spPr>
      </p:sp>
      <p:sp>
        <p:nvSpPr>
          <p:cNvPr id="20" name="Text 18"/>
          <p:cNvSpPr/>
          <p:nvPr/>
        </p:nvSpPr>
        <p:spPr>
          <a:xfrm>
            <a:off x="6264813" y="2415381"/>
            <a:ext cx="296736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Pin Type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791553" y="2314575"/>
            <a:ext cx="2695706" cy="463352"/>
          </a:xfrm>
          <a:custGeom>
            <a:avLst/>
            <a:gdLst/>
            <a:ahLst/>
            <a:cxnLst/>
            <a:rect l="l" t="t" r="r" b="b"/>
            <a:pathLst>
              <a:path w="2695706" h="463352">
                <a:moveTo>
                  <a:pt x="0" y="0"/>
                </a:moveTo>
                <a:lnTo>
                  <a:pt x="2674979" y="0"/>
                </a:lnTo>
                <a:arcTo wR="20727" hR="20728" stAng="16200000" swAng="5400000"/>
                <a:lnTo>
                  <a:pt x="2695706" y="463352"/>
                </a:lnTo>
                <a:lnTo>
                  <a:pt x="0" y="463352"/>
                </a:lnTo>
                <a:lnTo>
                  <a:pt x="0" y="0"/>
                </a:lnTo>
                <a:close/>
              </a:path>
            </a:pathLst>
          </a:custGeom>
          <a:solidFill>
            <a:srgbClr val="F98AC7"/>
          </a:solidFill>
          <a:ln/>
        </p:spPr>
      </p:sp>
      <p:sp>
        <p:nvSpPr>
          <p:cNvPr id="22" name="Text 20"/>
          <p:cNvSpPr/>
          <p:nvPr/>
        </p:nvSpPr>
        <p:spPr>
          <a:xfrm>
            <a:off x="8960519" y="2415381"/>
            <a:ext cx="297053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Function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0226" y="2881908"/>
            <a:ext cx="297053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DHT11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69107" y="2881908"/>
            <a:ext cx="296736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Single-wire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64813" y="2881908"/>
            <a:ext cx="296736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Digital GPIO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60519" y="2881908"/>
            <a:ext cx="297053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Temperature &amp; humidity data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70226" y="3348434"/>
            <a:ext cx="297053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PIR Sensor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69107" y="3348434"/>
            <a:ext cx="296736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Digital output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64813" y="3348434"/>
            <a:ext cx="296736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Digital GPIO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960519" y="3348434"/>
            <a:ext cx="297053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Motion detection input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70226" y="3814961"/>
            <a:ext cx="297053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MQ Gas Sensor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569107" y="3814961"/>
            <a:ext cx="296736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Analog output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64813" y="3814961"/>
            <a:ext cx="296736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ADC Pin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960519" y="3814961"/>
            <a:ext cx="297053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Gas concentration measurement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70226" y="4281488"/>
            <a:ext cx="297053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Flame Sensor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569107" y="4281488"/>
            <a:ext cx="296736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Digital output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64813" y="4281488"/>
            <a:ext cx="296736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Digital GPIO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960519" y="4281488"/>
            <a:ext cx="297053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Fire / IR detection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70226" y="4748014"/>
            <a:ext cx="297053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Relay Module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569107" y="4748014"/>
            <a:ext cx="296736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Digital control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264813" y="4748014"/>
            <a:ext cx="296736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Digital GPIO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960519" y="4748014"/>
            <a:ext cx="297053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Fan and appliance switching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70226" y="5214541"/>
            <a:ext cx="297053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SSD1306 OLED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569107" y="5214541"/>
            <a:ext cx="296736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I2C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4813" y="5214541"/>
            <a:ext cx="296736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SDA / SCL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960519" y="5214541"/>
            <a:ext cx="297053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On-device status display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70226" y="5681067"/>
            <a:ext cx="297053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LEDs &amp; Buzzer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569107" y="5681067"/>
            <a:ext cx="296736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Direct drive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264813" y="5681067"/>
            <a:ext cx="296736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Digital GPIO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960519" y="5681067"/>
            <a:ext cx="297053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Visual &amp; audible alerts</a:t>
            </a:r>
            <a:endParaRPr lang="en-US" sz="1300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C38F45C-2979-ADE4-F9ED-FEC4EB7728B9}"/>
              </a:ext>
            </a:extLst>
          </p:cNvPr>
          <p:cNvGrpSpPr/>
          <p:nvPr/>
        </p:nvGrpSpPr>
        <p:grpSpPr>
          <a:xfrm>
            <a:off x="0" y="6433457"/>
            <a:ext cx="12285040" cy="424543"/>
            <a:chOff x="0" y="6433457"/>
            <a:chExt cx="12285040" cy="424543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991C333-2767-31CC-2915-9DCDD7950DDE}"/>
                </a:ext>
              </a:extLst>
            </p:cNvPr>
            <p:cNvSpPr/>
            <p:nvPr/>
          </p:nvSpPr>
          <p:spPr>
            <a:xfrm>
              <a:off x="0" y="6433457"/>
              <a:ext cx="12192000" cy="424543"/>
            </a:xfrm>
            <a:prstGeom prst="rect">
              <a:avLst/>
            </a:prstGeom>
            <a:solidFill>
              <a:srgbClr val="97A9D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B74EA6B-F80F-D9B3-E80E-C00D65F86576}"/>
                </a:ext>
              </a:extLst>
            </p:cNvPr>
            <p:cNvSpPr txBox="1"/>
            <p:nvPr/>
          </p:nvSpPr>
          <p:spPr>
            <a:xfrm>
              <a:off x="10535262" y="6522148"/>
              <a:ext cx="174977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FF0000"/>
                  </a:solidFill>
                </a:rPr>
                <a:t>Made by: Saharsh &amp; Anant</a:t>
              </a:r>
              <a:endParaRPr lang="en-IN" sz="10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79934"/>
            <a:ext cx="10795524" cy="359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Working Flowchart &amp; System Logic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38" y="1110357"/>
            <a:ext cx="7314819" cy="27448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48711" y="3195155"/>
            <a:ext cx="1103278" cy="199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Send Data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958279" y="3195155"/>
            <a:ext cx="1103278" cy="199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Safety Check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575402" y="3195155"/>
            <a:ext cx="1103279" cy="199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Detect Motion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192527" y="3195155"/>
            <a:ext cx="1103278" cy="199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Monitor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779424" y="3195155"/>
            <a:ext cx="1103278" cy="199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Initialize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386" y="4034830"/>
            <a:ext cx="5261439" cy="6227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5620" y="4047530"/>
            <a:ext cx="5101204" cy="17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Initialization Phase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45620" y="4312741"/>
            <a:ext cx="5101204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ESP32 boots, connects to configured Wi-Fi SSID, initializes all sensor peripherals, and starts the HTTP server or client loop.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386" y="4803279"/>
            <a:ext cx="5261439" cy="6227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45620" y="4815979"/>
            <a:ext cx="5101204" cy="17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Continuous Monitoring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845620" y="5081191"/>
            <a:ext cx="5101204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Sensor polling loop executes every second — DHT11 reads every 2 s, PIR and flame sensors polled continuously for immediate response.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386" y="5571728"/>
            <a:ext cx="5261439" cy="6227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45620" y="5584428"/>
            <a:ext cx="5101204" cy="17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Motion &amp; Safety Response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845620" y="5849640"/>
            <a:ext cx="5101204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PIR trigger activates buzzer, stepper motor, and DC fan. Gas or flame threshold breach initiates emergency protocol with red LED and buzzer.</a:t>
            </a:r>
            <a:endParaRPr lang="en-US" sz="9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38520" y="4034830"/>
            <a:ext cx="5261439" cy="62279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398755" y="4047530"/>
            <a:ext cx="5101204" cy="17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HTTP Data Transmission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6398755" y="4312741"/>
            <a:ext cx="5101204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Client ESP32 packages all sensor readings into a JSON payload and dispatches an HTTP POST request to the server ESP32's endpoint.</a:t>
            </a:r>
            <a:endParaRPr lang="en-US" sz="9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38520" y="4803279"/>
            <a:ext cx="5261439" cy="62279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398755" y="4815979"/>
            <a:ext cx="5101204" cy="17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Dashboard Update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6398755" y="5081191"/>
            <a:ext cx="5101204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Server processes incoming data, updates internal state, and serves updated JSON to the web dashboard via HTTP GET endpoints.</a:t>
            </a:r>
            <a:endParaRPr lang="en-US" sz="95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1F7F79D-90D3-B14E-A96C-4DE0EF61D779}"/>
              </a:ext>
            </a:extLst>
          </p:cNvPr>
          <p:cNvGrpSpPr/>
          <p:nvPr/>
        </p:nvGrpSpPr>
        <p:grpSpPr>
          <a:xfrm>
            <a:off x="0" y="6433457"/>
            <a:ext cx="12285040" cy="424543"/>
            <a:chOff x="0" y="6433457"/>
            <a:chExt cx="12285040" cy="424543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44422ED-18BE-CF4E-F755-9CBDC79B46D5}"/>
                </a:ext>
              </a:extLst>
            </p:cNvPr>
            <p:cNvSpPr/>
            <p:nvPr/>
          </p:nvSpPr>
          <p:spPr>
            <a:xfrm>
              <a:off x="0" y="6433457"/>
              <a:ext cx="12192000" cy="424543"/>
            </a:xfrm>
            <a:prstGeom prst="rect">
              <a:avLst/>
            </a:prstGeom>
            <a:solidFill>
              <a:srgbClr val="97A9D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F02F51C-F217-DA22-242D-ADED526D8729}"/>
                </a:ext>
              </a:extLst>
            </p:cNvPr>
            <p:cNvSpPr txBox="1"/>
            <p:nvPr/>
          </p:nvSpPr>
          <p:spPr>
            <a:xfrm>
              <a:off x="10535262" y="6522148"/>
              <a:ext cx="174977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FF0000"/>
                  </a:solidFill>
                </a:rPr>
                <a:t>Made by: Saharsh &amp; Anant</a:t>
              </a:r>
              <a:endParaRPr lang="en-IN" sz="10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479921"/>
            <a:ext cx="10795524" cy="461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HTTP Client–Server Communication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84979" y="1153914"/>
            <a:ext cx="5432388" cy="5224760"/>
          </a:xfrm>
          <a:prstGeom prst="roundRect">
            <a:avLst>
              <a:gd name="adj" fmla="val 451"/>
            </a:avLst>
          </a:prstGeom>
          <a:solidFill>
            <a:srgbClr val="F98AC7"/>
          </a:solidFill>
          <a:ln/>
        </p:spPr>
      </p:sp>
      <p:sp>
        <p:nvSpPr>
          <p:cNvPr id="4" name="Text 2"/>
          <p:cNvSpPr/>
          <p:nvPr/>
        </p:nvSpPr>
        <p:spPr>
          <a:xfrm>
            <a:off x="742038" y="1295202"/>
            <a:ext cx="511827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Communication Protocol Design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2038" y="1685230"/>
            <a:ext cx="314119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2038" y="1933079"/>
            <a:ext cx="5118270" cy="19050"/>
          </a:xfrm>
          <a:prstGeom prst="rect">
            <a:avLst/>
          </a:prstGeom>
          <a:solidFill>
            <a:srgbClr val="6EB9FC"/>
          </a:solidFill>
          <a:ln/>
        </p:spPr>
      </p:sp>
      <p:sp>
        <p:nvSpPr>
          <p:cNvPr id="7" name="Text 5"/>
          <p:cNvSpPr/>
          <p:nvPr/>
        </p:nvSpPr>
        <p:spPr>
          <a:xfrm>
            <a:off x="742038" y="2049661"/>
            <a:ext cx="511827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HTTP POST — Sensor Upload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2038" y="2421930"/>
            <a:ext cx="5118270" cy="490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Client ESP32 sends sensor data as structured JSON payloads to the server's </a:t>
            </a:r>
            <a:r>
              <a:rPr lang="en-US" sz="1200" dirty="0">
                <a:solidFill>
                  <a:srgbClr val="000000"/>
                </a:solidFill>
                <a:highlight>
                  <a:srgbClr val="EC7DB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/data</a:t>
            </a:r>
            <a:r>
              <a:rPr lang="en-US" sz="12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endpoint at regular intervals.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2038" y="3171130"/>
            <a:ext cx="314119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2038" y="3387626"/>
            <a:ext cx="5118270" cy="19050"/>
          </a:xfrm>
          <a:prstGeom prst="rect">
            <a:avLst/>
          </a:prstGeom>
          <a:solidFill>
            <a:srgbClr val="6EB9FC"/>
          </a:solidFill>
          <a:ln/>
        </p:spPr>
      </p:sp>
      <p:sp>
        <p:nvSpPr>
          <p:cNvPr id="11" name="Text 9"/>
          <p:cNvSpPr/>
          <p:nvPr/>
        </p:nvSpPr>
        <p:spPr>
          <a:xfrm>
            <a:off x="742038" y="3535561"/>
            <a:ext cx="511827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HTTP GET — Command Fetch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42038" y="3907830"/>
            <a:ext cx="5118270" cy="477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Server responds with control commands and acknowledgments, enabling bidirectional communication over a single Wi-Fi network.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2038" y="4644330"/>
            <a:ext cx="314119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2038" y="4829473"/>
            <a:ext cx="5118270" cy="19050"/>
          </a:xfrm>
          <a:prstGeom prst="rect">
            <a:avLst/>
          </a:prstGeom>
          <a:solidFill>
            <a:srgbClr val="6EB9FC"/>
          </a:solidFill>
          <a:ln/>
        </p:spPr>
      </p:sp>
      <p:sp>
        <p:nvSpPr>
          <p:cNvPr id="15" name="Text 13"/>
          <p:cNvSpPr/>
          <p:nvPr/>
        </p:nvSpPr>
        <p:spPr>
          <a:xfrm>
            <a:off x="742038" y="5008761"/>
            <a:ext cx="511827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JSON Data Structure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42038" y="5381030"/>
            <a:ext cx="511827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Payload contains fields: </a:t>
            </a:r>
            <a:r>
              <a:rPr lang="en-US" sz="1200" dirty="0">
                <a:solidFill>
                  <a:srgbClr val="000000"/>
                </a:solidFill>
                <a:highlight>
                  <a:srgbClr val="EC7DB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</a:t>
            </a:r>
            <a:r>
              <a:rPr lang="en-US" sz="12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200" dirty="0">
                <a:solidFill>
                  <a:srgbClr val="000000"/>
                </a:solidFill>
                <a:highlight>
                  <a:srgbClr val="EC7DB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humidity</a:t>
            </a:r>
            <a:r>
              <a:rPr lang="en-US" sz="12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200" dirty="0">
                <a:solidFill>
                  <a:srgbClr val="000000"/>
                </a:solidFill>
                <a:highlight>
                  <a:srgbClr val="EC7DB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motion</a:t>
            </a:r>
            <a:r>
              <a:rPr lang="en-US" sz="12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200" dirty="0">
                <a:solidFill>
                  <a:srgbClr val="000000"/>
                </a:solidFill>
                <a:highlight>
                  <a:srgbClr val="EC7DB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gas_level</a:t>
            </a:r>
            <a:r>
              <a:rPr lang="en-US" sz="12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200" dirty="0">
                <a:solidFill>
                  <a:srgbClr val="000000"/>
                </a:solidFill>
                <a:highlight>
                  <a:srgbClr val="EC7DB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flame_detected</a:t>
            </a:r>
            <a:r>
              <a:rPr lang="en-US" sz="12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and </a:t>
            </a:r>
            <a:r>
              <a:rPr lang="en-US" sz="1200" dirty="0">
                <a:solidFill>
                  <a:srgbClr val="000000"/>
                </a:solidFill>
                <a:highlight>
                  <a:srgbClr val="EC7DB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r>
              <a:rPr lang="en-US" sz="12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93784" y="1295202"/>
            <a:ext cx="5206175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Performance Characteristics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54127" y="1763713"/>
            <a:ext cx="4685488" cy="518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&lt;1s</a:t>
            </a:r>
            <a:endParaRPr lang="en-US" sz="4050" dirty="0"/>
          </a:p>
        </p:txBody>
      </p:sp>
      <p:sp>
        <p:nvSpPr>
          <p:cNvPr id="19" name="Text 17"/>
          <p:cNvSpPr/>
          <p:nvPr/>
        </p:nvSpPr>
        <p:spPr>
          <a:xfrm>
            <a:off x="6293784" y="2466578"/>
            <a:ext cx="5206175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Alert Latency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293784" y="2838847"/>
            <a:ext cx="5206175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Sub-second response time for critical safety events (gas, flame)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54127" y="3438723"/>
            <a:ext cx="4685488" cy="518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1s</a:t>
            </a:r>
            <a:endParaRPr lang="en-US" sz="4050" dirty="0"/>
          </a:p>
        </p:txBody>
      </p:sp>
      <p:sp>
        <p:nvSpPr>
          <p:cNvPr id="22" name="Text 20"/>
          <p:cNvSpPr/>
          <p:nvPr/>
        </p:nvSpPr>
        <p:spPr>
          <a:xfrm>
            <a:off x="6293784" y="4141589"/>
            <a:ext cx="5206175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Poll Interval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293784" y="4513858"/>
            <a:ext cx="5206175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Sensor data transmitted to server every second for live dashboard accuracy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93784" y="4911626"/>
            <a:ext cx="5206175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Dashboard Integration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293784" y="5283895"/>
            <a:ext cx="5206175" cy="967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web frontend uses JavaScript's </a:t>
            </a:r>
            <a:r>
              <a:rPr lang="en-US" sz="12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fetch()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API to periodically query the server's JSON endpoint and dynamically update DOM elements — no page reload required. All communication occurs over TCP/IP within the local Wi-Fi network, ensuring low latency and high reliability.</a:t>
            </a:r>
            <a:endParaRPr lang="en-US" sz="12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4FA1185-6F3B-FF13-605F-6F5DDF2D2F6F}"/>
              </a:ext>
            </a:extLst>
          </p:cNvPr>
          <p:cNvGrpSpPr/>
          <p:nvPr/>
        </p:nvGrpSpPr>
        <p:grpSpPr>
          <a:xfrm>
            <a:off x="0" y="6433457"/>
            <a:ext cx="12285040" cy="424543"/>
            <a:chOff x="0" y="6433457"/>
            <a:chExt cx="12285040" cy="424543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00A5171-E16E-F4FE-721A-2B66F1EABB4A}"/>
                </a:ext>
              </a:extLst>
            </p:cNvPr>
            <p:cNvSpPr/>
            <p:nvPr/>
          </p:nvSpPr>
          <p:spPr>
            <a:xfrm>
              <a:off x="0" y="6433457"/>
              <a:ext cx="12192000" cy="424543"/>
            </a:xfrm>
            <a:prstGeom prst="rect">
              <a:avLst/>
            </a:prstGeom>
            <a:solidFill>
              <a:srgbClr val="97A9D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0C63DE6-BCB6-43D3-D7C8-58B3E977308A}"/>
                </a:ext>
              </a:extLst>
            </p:cNvPr>
            <p:cNvSpPr txBox="1"/>
            <p:nvPr/>
          </p:nvSpPr>
          <p:spPr>
            <a:xfrm>
              <a:off x="10535262" y="6522148"/>
              <a:ext cx="174977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FF0000"/>
                  </a:solidFill>
                </a:rPr>
                <a:t>Made by: Saharsh &amp; Anant</a:t>
              </a:r>
              <a:endParaRPr lang="en-IN" sz="10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50776"/>
            <a:ext cx="10795524" cy="436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Sensor Integration &amp; Automation Logic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98086" y="1339255"/>
            <a:ext cx="10795524" cy="438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sensor operates within defined thresholds that trigger specific actuator responses, forming a closed-loop automation system with real-time feedback displayed on the OLED and web dashboard.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98086" y="1919982"/>
            <a:ext cx="10795524" cy="3392884"/>
          </a:xfrm>
          <a:prstGeom prst="roundRect">
            <a:avLst>
              <a:gd name="adj" fmla="val 656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8086" y="2312888"/>
            <a:ext cx="10795524" cy="927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98086" y="2702620"/>
            <a:ext cx="10795524" cy="927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98086" y="3092351"/>
            <a:ext cx="10795524" cy="927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8086" y="3701554"/>
            <a:ext cx="10795524" cy="927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98086" y="4310757"/>
            <a:ext cx="10795524" cy="927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98086" y="4700488"/>
            <a:ext cx="10795524" cy="927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400142" y="1919982"/>
            <a:ext cx="9273" cy="339288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095848" y="1919982"/>
            <a:ext cx="9273" cy="339288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791553" y="1919982"/>
            <a:ext cx="9273" cy="339288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04436" y="1926332"/>
            <a:ext cx="2695706" cy="386556"/>
          </a:xfrm>
          <a:custGeom>
            <a:avLst/>
            <a:gdLst/>
            <a:ahLst/>
            <a:cxnLst/>
            <a:rect l="l" t="t" r="r" b="b"/>
            <a:pathLst>
              <a:path w="2695706" h="386556">
                <a:moveTo>
                  <a:pt x="18545" y="0"/>
                </a:moveTo>
                <a:lnTo>
                  <a:pt x="2695706" y="0"/>
                </a:lnTo>
                <a:lnTo>
                  <a:pt x="2695706" y="386556"/>
                </a:lnTo>
                <a:lnTo>
                  <a:pt x="0" y="386556"/>
                </a:lnTo>
                <a:lnTo>
                  <a:pt x="0" y="18546"/>
                </a:lnTo>
                <a:arcTo wR="18545" hR="18546" stAng="10800000" swAng="5400000"/>
                <a:close/>
              </a:path>
            </a:pathLst>
          </a:custGeom>
          <a:solidFill>
            <a:srgbClr val="F98AC7"/>
          </a:solidFill>
          <a:ln/>
        </p:spPr>
      </p:sp>
      <p:sp>
        <p:nvSpPr>
          <p:cNvPr id="15" name="Text 13"/>
          <p:cNvSpPr/>
          <p:nvPr/>
        </p:nvSpPr>
        <p:spPr>
          <a:xfrm>
            <a:off x="852764" y="2008287"/>
            <a:ext cx="3005459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Sensor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00142" y="1926332"/>
            <a:ext cx="2695706" cy="386556"/>
          </a:xfrm>
          <a:prstGeom prst="rect">
            <a:avLst/>
          </a:prstGeom>
          <a:solidFill>
            <a:srgbClr val="F98AC7"/>
          </a:solidFill>
          <a:ln/>
        </p:spPr>
      </p:sp>
      <p:sp>
        <p:nvSpPr>
          <p:cNvPr id="17" name="Text 15"/>
          <p:cNvSpPr/>
          <p:nvPr/>
        </p:nvSpPr>
        <p:spPr>
          <a:xfrm>
            <a:off x="3551645" y="2008287"/>
            <a:ext cx="3002284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Range / Spec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95848" y="1926332"/>
            <a:ext cx="2695706" cy="386556"/>
          </a:xfrm>
          <a:prstGeom prst="rect">
            <a:avLst/>
          </a:prstGeom>
          <a:solidFill>
            <a:srgbClr val="F98AC7"/>
          </a:solidFill>
          <a:ln/>
        </p:spPr>
      </p:sp>
      <p:sp>
        <p:nvSpPr>
          <p:cNvPr id="19" name="Text 17"/>
          <p:cNvSpPr/>
          <p:nvPr/>
        </p:nvSpPr>
        <p:spPr>
          <a:xfrm>
            <a:off x="6247351" y="2008287"/>
            <a:ext cx="3002284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Trigger Condition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791553" y="1926332"/>
            <a:ext cx="2695706" cy="386556"/>
          </a:xfrm>
          <a:custGeom>
            <a:avLst/>
            <a:gdLst/>
            <a:ahLst/>
            <a:cxnLst/>
            <a:rect l="l" t="t" r="r" b="b"/>
            <a:pathLst>
              <a:path w="2695706" h="386556">
                <a:moveTo>
                  <a:pt x="0" y="0"/>
                </a:moveTo>
                <a:lnTo>
                  <a:pt x="2677161" y="0"/>
                </a:lnTo>
                <a:arcTo wR="18545" hR="18546" stAng="16200000" swAng="5400000"/>
                <a:lnTo>
                  <a:pt x="2695706" y="386556"/>
                </a:lnTo>
                <a:lnTo>
                  <a:pt x="0" y="386556"/>
                </a:lnTo>
                <a:lnTo>
                  <a:pt x="0" y="0"/>
                </a:lnTo>
                <a:close/>
              </a:path>
            </a:pathLst>
          </a:custGeom>
          <a:solidFill>
            <a:srgbClr val="F98AC7"/>
          </a:solidFill>
          <a:ln/>
        </p:spPr>
      </p:sp>
      <p:sp>
        <p:nvSpPr>
          <p:cNvPr id="21" name="Text 19"/>
          <p:cNvSpPr/>
          <p:nvPr/>
        </p:nvSpPr>
        <p:spPr>
          <a:xfrm>
            <a:off x="8943057" y="2008287"/>
            <a:ext cx="3005459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Automated Response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2764" y="2398018"/>
            <a:ext cx="3005459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DHT11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551645" y="2398018"/>
            <a:ext cx="3002284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0–50°C · 20–90% RH · 2 s interval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47351" y="2398018"/>
            <a:ext cx="3002284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Temperature exceeds threshold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943057" y="2398018"/>
            <a:ext cx="3005459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Relay activates DC fan automatically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52764" y="2787749"/>
            <a:ext cx="3005459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PIR Sensor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551645" y="2787749"/>
            <a:ext cx="3002284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5–7 m detection range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47351" y="2787749"/>
            <a:ext cx="3002284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Motion detected in zone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943057" y="2787749"/>
            <a:ext cx="3005459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Buzzer alert · Stepper motor · Fan 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52764" y="3177480"/>
            <a:ext cx="3005459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MQ Gas Sensor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551645" y="3177480"/>
            <a:ext cx="3002284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Analog ADC reading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247351" y="3177480"/>
            <a:ext cx="3002284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Gas level exceeds safe threshold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943057" y="3177480"/>
            <a:ext cx="2395874" cy="438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 LED ON · Buzzer alert · Dashboard warning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52764" y="3786684"/>
            <a:ext cx="3005459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Flame Sensor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551645" y="3786684"/>
            <a:ext cx="3002284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IR radiation detection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247351" y="3786684"/>
            <a:ext cx="3002284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Flame / fire IR signature detected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943057" y="3786684"/>
            <a:ext cx="2395874" cy="438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Emergency protocol · Buzzer · Red LED · Server alert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52764" y="4395887"/>
            <a:ext cx="3005459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Relay &amp; Fan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551645" y="4395887"/>
            <a:ext cx="3002284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GPIO-controlled switching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247351" y="4395887"/>
            <a:ext cx="3002284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Motion OR temperature threshold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943057" y="4395887"/>
            <a:ext cx="3005459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Automatic ON/OFF via server logic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52764" y="4785618"/>
            <a:ext cx="3005459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OLED Display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3551645" y="4785618"/>
            <a:ext cx="3002284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SSD1306 · 0.96" · I2C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247351" y="4785618"/>
            <a:ext cx="3002284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Continuous update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8943057" y="4785618"/>
            <a:ext cx="2395874" cy="438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Shows live temp, humidity, motion, gas, flame status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98086" y="5454650"/>
            <a:ext cx="10795524" cy="752475"/>
          </a:xfrm>
          <a:prstGeom prst="roundRect">
            <a:avLst>
              <a:gd name="adj" fmla="val 2957"/>
            </a:avLst>
          </a:prstGeom>
          <a:solidFill>
            <a:srgbClr val="790645"/>
          </a:solidFill>
          <a:ln/>
        </p:spPr>
      </p:sp>
      <p:pic>
        <p:nvPicPr>
          <p:cNvPr id="4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14" y="5656163"/>
            <a:ext cx="185435" cy="148332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1180178" y="5617766"/>
            <a:ext cx="10165104" cy="438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sensor thresholds are configurable in firmware. The OLED provides on-device feedback independent of Wi-Fi connectivity, ensuring local visibility even during network interruptions.</a:t>
            </a:r>
            <a:endParaRPr lang="en-US" sz="1150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B7C46AC-35DC-523E-90CA-4E4DDC985407}"/>
              </a:ext>
            </a:extLst>
          </p:cNvPr>
          <p:cNvGrpSpPr/>
          <p:nvPr/>
        </p:nvGrpSpPr>
        <p:grpSpPr>
          <a:xfrm>
            <a:off x="0" y="6433457"/>
            <a:ext cx="12285040" cy="424543"/>
            <a:chOff x="0" y="6433457"/>
            <a:chExt cx="12285040" cy="424543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FE11EF7-6D95-7105-C246-3CC5619AC64D}"/>
                </a:ext>
              </a:extLst>
            </p:cNvPr>
            <p:cNvSpPr/>
            <p:nvPr/>
          </p:nvSpPr>
          <p:spPr>
            <a:xfrm>
              <a:off x="0" y="6433457"/>
              <a:ext cx="12192000" cy="424543"/>
            </a:xfrm>
            <a:prstGeom prst="rect">
              <a:avLst/>
            </a:prstGeom>
            <a:solidFill>
              <a:srgbClr val="97A9D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C1B3A4D-1E63-721E-5ADB-0D0A892F2D71}"/>
                </a:ext>
              </a:extLst>
            </p:cNvPr>
            <p:cNvSpPr txBox="1"/>
            <p:nvPr/>
          </p:nvSpPr>
          <p:spPr>
            <a:xfrm>
              <a:off x="10535262" y="6522148"/>
              <a:ext cx="174977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FF0000"/>
                  </a:solidFill>
                </a:rPr>
                <a:t>Made by: Saharsh &amp; Anant</a:t>
              </a:r>
              <a:endParaRPr lang="en-IN" sz="10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467247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Conclusion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2329557"/>
            <a:ext cx="2567915" cy="23888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1657" y="3046710"/>
            <a:ext cx="218077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Project Outcomes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91657" y="3408065"/>
            <a:ext cx="2180774" cy="1116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Successfully implemented a fully functional smart home automation system with real-time monitoring and control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40523" y="2329557"/>
            <a:ext cx="2568015" cy="23888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34093" y="3046710"/>
            <a:ext cx="218087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Skills Learned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634093" y="3408065"/>
            <a:ext cx="2180873" cy="1116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Embedded systems programming, IoT protocols, web development, and hardware integration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3059" y="2329557"/>
            <a:ext cx="2568015" cy="238889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76630" y="3046710"/>
            <a:ext cx="218087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IoT Concepts Applied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376630" y="3408065"/>
            <a:ext cx="2180873" cy="1116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Sensor integration, wireless communication, client-server architecture, and automation logic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25595" y="2329557"/>
            <a:ext cx="2568015" cy="238889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19166" y="3046710"/>
            <a:ext cx="218087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Impact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9119166" y="3408065"/>
            <a:ext cx="2180873" cy="1116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Demonstrated practical application of IoT in home automation and safety systems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98086" y="4980186"/>
            <a:ext cx="10795524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Thank You &amp; Questions</a:t>
            </a:r>
            <a:endParaRPr lang="en-US" sz="255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24D84C9-E13A-2AA0-5569-D8C52A05B542}"/>
              </a:ext>
            </a:extLst>
          </p:cNvPr>
          <p:cNvGrpSpPr/>
          <p:nvPr/>
        </p:nvGrpSpPr>
        <p:grpSpPr>
          <a:xfrm>
            <a:off x="0" y="6433457"/>
            <a:ext cx="12285040" cy="424543"/>
            <a:chOff x="0" y="6433457"/>
            <a:chExt cx="12285040" cy="42454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D11A2CC-69F1-13D6-9253-47E2734C0838}"/>
                </a:ext>
              </a:extLst>
            </p:cNvPr>
            <p:cNvSpPr/>
            <p:nvPr/>
          </p:nvSpPr>
          <p:spPr>
            <a:xfrm>
              <a:off x="0" y="6433457"/>
              <a:ext cx="12192000" cy="424543"/>
            </a:xfrm>
            <a:prstGeom prst="rect">
              <a:avLst/>
            </a:prstGeom>
            <a:solidFill>
              <a:srgbClr val="97A9D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5D61A4D-FEDB-1A10-D386-F98545E8DF82}"/>
                </a:ext>
              </a:extLst>
            </p:cNvPr>
            <p:cNvSpPr txBox="1"/>
            <p:nvPr/>
          </p:nvSpPr>
          <p:spPr>
            <a:xfrm>
              <a:off x="10535262" y="6522148"/>
              <a:ext cx="174977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FF0000"/>
                  </a:solidFill>
                </a:rPr>
                <a:t>Made by: Saharsh &amp; Anant</a:t>
              </a:r>
              <a:endParaRPr lang="en-IN" sz="10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1509</Words>
  <Application>Microsoft Office PowerPoint</Application>
  <PresentationFormat>Widescreen</PresentationFormat>
  <Paragraphs>245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Source Sans 3</vt:lpstr>
      <vt:lpstr>Consolas</vt:lpstr>
      <vt:lpstr>Source Sans 3 Bold</vt:lpstr>
      <vt:lpstr>Arial</vt:lpstr>
      <vt:lpstr>Lora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lastModifiedBy>Saharsh Mishra</cp:lastModifiedBy>
  <cp:revision>2</cp:revision>
  <dcterms:created xsi:type="dcterms:W3CDTF">2026-08-03T13:01:55Z</dcterms:created>
  <dcterms:modified xsi:type="dcterms:W3CDTF">2026-08-03T13:27:55Z</dcterms:modified>
</cp:coreProperties>
</file>